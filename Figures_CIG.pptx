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3B81-3FBD-A123-3842-82077CDEF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BABE4-1E8D-2FE3-237B-A1F449683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4608-9B80-198D-412F-C913EC3A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8EB20-9C99-D771-105D-FCDBBC82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81E8A-DB86-125E-DCAF-7A594BB0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0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4C42-E320-850B-B3DC-7067BC2B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6854-B2D0-0020-29A0-A5BE96BCB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7D1-FAD0-FF30-7F41-0A2BB5E6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53EF-F6BA-62D4-7443-68F2DA8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FAF6-E2A8-98C9-9C52-3F00FB3A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0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4DEA-7511-14D8-8622-17F96027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1AEF3-4854-A146-E69A-A86D5C5DB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6135-FD86-69F3-61AD-5CC1B42A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E7453-6DF7-5718-DA7D-379E2C43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F9953-AD94-48F5-B1F5-9B5E85A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1A069-5CD0-0DB6-C5B1-621C5CE4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FE8B-C742-6EA6-A4AF-46A656BA8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1945A-EE97-F0EE-55EE-AE000355E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A2EDD-7EAE-B134-C4D5-9DAA86DF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E347F-BD66-EBB0-9F64-8077BE65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B8D44-A3BB-C34D-C7F6-FAF9C59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3134-220C-2FAF-1D1D-CBF6FAEB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24970-F2E5-C0D0-C977-9F2C17F3C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0DD3E-0C95-AA52-682B-02BCF5804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2F544-5F6C-BF47-3B65-3216953CE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26429-EC4D-7BD4-9EC0-2E4B1DC37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363B7-3A7E-8F5C-9DF6-1EDDA9C3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46A598-E86A-25E7-A5AB-ECB24C7C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A8E31-720B-1675-5FA2-FA9BDC27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9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887C-0D2B-5C1E-54DE-470C0891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2D956-92DE-7223-B0A0-78D4281C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1B495-AB34-59CF-569A-11F9B33A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54F75-CACE-10EC-A349-A54771E1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8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BED1DD-EA3D-19D4-5168-D022DE04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274A6-786C-BE60-EFCE-5CE693D7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8F78D-681E-7E5F-4A9A-3BD19701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7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B5D9-E23D-6C13-1675-EC95B980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27829-9419-53E2-FC84-D53458AD7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4F9E9-9073-1119-8B3E-AAB9F39C3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38647-2734-D15C-F04B-330176A9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6B743-6F42-000F-56EA-02F318A9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0057E-3E92-9C15-5ADB-025C19DB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6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7E9A-8B2E-F36F-B152-F5F0DA20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FC29C-9938-CD3C-886A-09C58B666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380A9-971D-2FF5-AB7F-8C2BDF250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6344A-1524-6E3C-C58B-8DF8E63E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8FCF7-D9BD-C574-2B46-C7E8D027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FBF50-59EA-9EF5-E632-F84119CB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89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B0FA-5AE6-E75C-8860-4653331C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A1BD4-01C5-677A-AD04-C7D4F00EF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DD61A-DA3B-D1D3-C76D-2EE33BD5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8ACA-F79D-F330-7C06-6F061F65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D8AC-08DA-2546-D0C4-EF114BA0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49BFB-C7E6-3F29-27BA-363EB738F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49E99-4E20-868F-EED0-B7F769EC4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25FCF-63FE-F579-03AB-14DCECC2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1EAC5-5BFA-5A30-9582-CAB1C94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1E8CD-985E-1FF2-80D2-F8FE64D9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4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2F665-8470-8D1D-F7D6-B923405E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33A07-692E-6CDB-565F-8EE6A4E64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BD547-D264-A12D-2599-CE4FB30C0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0A5D2-8F94-48AE-99AF-0F66910C4BAF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EABCE-211B-03FE-0754-9BE19FA62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20D0C-5DD0-1953-3E44-318E51D5A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CBEDD-1D5D-4439-918F-02D0E055F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18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0438-3B05-31A9-3714-52034C33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33BDB-85EA-B6F6-63A0-2938EF7DE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30" y="0"/>
            <a:ext cx="8204342" cy="6866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17635E-0020-1975-0C24-6CC7CD9D38C5}"/>
              </a:ext>
            </a:extLst>
          </p:cNvPr>
          <p:cNvSpPr txBox="1"/>
          <p:nvPr/>
        </p:nvSpPr>
        <p:spPr>
          <a:xfrm rot="16200000">
            <a:off x="1819256" y="1582749"/>
            <a:ext cx="810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POXC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1E27A-3DE7-9F38-39FF-20F78536E497}"/>
              </a:ext>
            </a:extLst>
          </p:cNvPr>
          <p:cNvSpPr txBox="1"/>
          <p:nvPr/>
        </p:nvSpPr>
        <p:spPr>
          <a:xfrm rot="16200000">
            <a:off x="1624185" y="3110758"/>
            <a:ext cx="120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Mineralizable C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546BA-D8EC-4314-2913-8DE6B19FBFFF}"/>
              </a:ext>
            </a:extLst>
          </p:cNvPr>
          <p:cNvSpPr txBox="1"/>
          <p:nvPr/>
        </p:nvSpPr>
        <p:spPr>
          <a:xfrm rot="16200000">
            <a:off x="1624183" y="4729267"/>
            <a:ext cx="120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ACE Protein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71822-7D0B-B7F6-25C0-7E28CB0FAD50}"/>
              </a:ext>
            </a:extLst>
          </p:cNvPr>
          <p:cNvSpPr txBox="1"/>
          <p:nvPr/>
        </p:nvSpPr>
        <p:spPr>
          <a:xfrm>
            <a:off x="905256" y="6488668"/>
            <a:ext cx="10524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Figure: POXC, mineralizable C, and ACE soil protein under six SCCS main-plot treatments and two cover-crop split-plot treatments in December and March. Boxplots represent raw observations across four blocks. CC = with cover crops; No-CC = without cover crops.</a:t>
            </a:r>
          </a:p>
        </p:txBody>
      </p:sp>
    </p:spTree>
    <p:extLst>
      <p:ext uri="{BB962C8B-B14F-4D97-AF65-F5344CB8AC3E}">
        <p14:creationId xmlns:p14="http://schemas.microsoft.com/office/powerpoint/2010/main" val="28337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BBE7A0-CD25-7157-361E-F05F5A114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037" y="170920"/>
            <a:ext cx="7903012" cy="6613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FD9FD2-85B4-0E62-0573-85161D5E30FF}"/>
              </a:ext>
            </a:extLst>
          </p:cNvPr>
          <p:cNvSpPr txBox="1"/>
          <p:nvPr/>
        </p:nvSpPr>
        <p:spPr>
          <a:xfrm rot="16200000">
            <a:off x="1141100" y="1940868"/>
            <a:ext cx="216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β-Glucosidase</a:t>
            </a:r>
          </a:p>
          <a:p>
            <a:pPr algn="ctr"/>
            <a:r>
              <a:rPr lang="en-US" sz="1200" dirty="0"/>
              <a:t>(µg p-nitrophenol g</a:t>
            </a:r>
            <a:r>
              <a:rPr lang="en-US" sz="1200" baseline="30000" dirty="0"/>
              <a:t>-1</a:t>
            </a:r>
            <a:r>
              <a:rPr lang="en-US" sz="1200" dirty="0"/>
              <a:t> soil hr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6EF6C-5EB2-D54C-1486-A9579607071C}"/>
              </a:ext>
            </a:extLst>
          </p:cNvPr>
          <p:cNvSpPr txBox="1"/>
          <p:nvPr/>
        </p:nvSpPr>
        <p:spPr>
          <a:xfrm rot="16200000">
            <a:off x="1141099" y="4281731"/>
            <a:ext cx="216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β- Glucosaminidase</a:t>
            </a:r>
          </a:p>
          <a:p>
            <a:pPr algn="ctr"/>
            <a:r>
              <a:rPr lang="en-US" sz="1200" dirty="0"/>
              <a:t>(µg p-nitrophenol g</a:t>
            </a:r>
            <a:r>
              <a:rPr lang="en-US" sz="1200" baseline="30000" dirty="0"/>
              <a:t>-1</a:t>
            </a:r>
            <a:r>
              <a:rPr lang="en-US" sz="1200" dirty="0"/>
              <a:t> soil hr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29F6D9-051D-A698-0922-9BF592846640}"/>
              </a:ext>
            </a:extLst>
          </p:cNvPr>
          <p:cNvSpPr txBox="1"/>
          <p:nvPr/>
        </p:nvSpPr>
        <p:spPr>
          <a:xfrm>
            <a:off x="905256" y="6488668"/>
            <a:ext cx="10524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Figure: β-Glucosidase and β- Glucosaminidase under six SCCS main-plot treatments and two cover-crop split-plot treatments in December and March. Boxplots represent raw observations across four blocks. CC = with cover crops; No-CC = without cover crops.</a:t>
            </a:r>
          </a:p>
        </p:txBody>
      </p:sp>
    </p:spTree>
    <p:extLst>
      <p:ext uri="{BB962C8B-B14F-4D97-AF65-F5344CB8AC3E}">
        <p14:creationId xmlns:p14="http://schemas.microsoft.com/office/powerpoint/2010/main" val="343032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9AB9A-1827-6E93-E386-69CD91EB5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D2EE5-1241-E35C-DA52-86DA61105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3869" y="324948"/>
            <a:ext cx="8989973" cy="64507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761CD3-1BFE-5EC4-80B7-1BC9F2451698}"/>
              </a:ext>
            </a:extLst>
          </p:cNvPr>
          <p:cNvSpPr txBox="1"/>
          <p:nvPr/>
        </p:nvSpPr>
        <p:spPr>
          <a:xfrm rot="16200000">
            <a:off x="1819256" y="1490691"/>
            <a:ext cx="810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POXC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54C59-5FB9-BD8A-6411-A2BFF6736A69}"/>
              </a:ext>
            </a:extLst>
          </p:cNvPr>
          <p:cNvSpPr txBox="1"/>
          <p:nvPr/>
        </p:nvSpPr>
        <p:spPr>
          <a:xfrm rot="16200000">
            <a:off x="1624184" y="3119902"/>
            <a:ext cx="120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Mineralizable C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0B45C-A6E6-EA0C-CBB3-C7B103C4A1B4}"/>
              </a:ext>
            </a:extLst>
          </p:cNvPr>
          <p:cNvSpPr txBox="1"/>
          <p:nvPr/>
        </p:nvSpPr>
        <p:spPr>
          <a:xfrm rot="16200000">
            <a:off x="1624185" y="4601251"/>
            <a:ext cx="120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ACE Protein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A3902-96A9-499D-0D59-F953F99A6DE5}"/>
              </a:ext>
            </a:extLst>
          </p:cNvPr>
          <p:cNvSpPr txBox="1"/>
          <p:nvPr/>
        </p:nvSpPr>
        <p:spPr>
          <a:xfrm>
            <a:off x="905256" y="6488668"/>
            <a:ext cx="10524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Figure: POXC, mineralizable C, and ACE soil protein under six SCCS main-plot treatments and two cover-crop split-plot treatments in December and March. Bar graph represent raw observations across four blocks. CC = with cover crops; No-CC = without cover crops.</a:t>
            </a:r>
          </a:p>
        </p:txBody>
      </p:sp>
    </p:spTree>
    <p:extLst>
      <p:ext uri="{BB962C8B-B14F-4D97-AF65-F5344CB8AC3E}">
        <p14:creationId xmlns:p14="http://schemas.microsoft.com/office/powerpoint/2010/main" val="1189524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F302-258F-5304-0712-51D999A1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A995CD-F837-0908-CC1D-3A8DF496C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5037" y="642480"/>
            <a:ext cx="7903012" cy="56708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F5303A-48E6-873E-DDA3-B7A0EC4F2807}"/>
              </a:ext>
            </a:extLst>
          </p:cNvPr>
          <p:cNvSpPr txBox="1"/>
          <p:nvPr/>
        </p:nvSpPr>
        <p:spPr>
          <a:xfrm rot="16200000">
            <a:off x="1141100" y="1940868"/>
            <a:ext cx="216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β-Glucosidase</a:t>
            </a:r>
          </a:p>
          <a:p>
            <a:pPr algn="ctr"/>
            <a:r>
              <a:rPr lang="en-US" sz="1200" dirty="0"/>
              <a:t>(µg p-nitrophenol g</a:t>
            </a:r>
            <a:r>
              <a:rPr lang="en-US" sz="1200" baseline="30000" dirty="0"/>
              <a:t>-1</a:t>
            </a:r>
            <a:r>
              <a:rPr lang="en-US" sz="1200" dirty="0"/>
              <a:t> soil hr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CC5DE-F335-008F-B920-EEC7E3603F27}"/>
              </a:ext>
            </a:extLst>
          </p:cNvPr>
          <p:cNvSpPr txBox="1"/>
          <p:nvPr/>
        </p:nvSpPr>
        <p:spPr>
          <a:xfrm rot="16200000">
            <a:off x="1141099" y="4281731"/>
            <a:ext cx="216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β- Glucosaminidase</a:t>
            </a:r>
          </a:p>
          <a:p>
            <a:pPr algn="ctr"/>
            <a:r>
              <a:rPr lang="en-US" sz="1200" dirty="0"/>
              <a:t>(µg p-nitrophenol g</a:t>
            </a:r>
            <a:r>
              <a:rPr lang="en-US" sz="1200" baseline="30000" dirty="0"/>
              <a:t>-1</a:t>
            </a:r>
            <a:r>
              <a:rPr lang="en-US" sz="1200" dirty="0"/>
              <a:t> soil hr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1B9A5-79EC-45ED-FBCC-B351FF414534}"/>
              </a:ext>
            </a:extLst>
          </p:cNvPr>
          <p:cNvSpPr txBox="1"/>
          <p:nvPr/>
        </p:nvSpPr>
        <p:spPr>
          <a:xfrm>
            <a:off x="905256" y="6488668"/>
            <a:ext cx="10524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Figure: β-Glucosidase and β- Glucosaminidase under six SCCS main-plot treatments and two cover-crop split-plot treatments in December and March. </a:t>
            </a:r>
            <a:r>
              <a:rPr lang="en-US" sz="1100" dirty="0" err="1"/>
              <a:t>Bargraphs</a:t>
            </a:r>
            <a:r>
              <a:rPr lang="en-US" sz="1100" dirty="0"/>
              <a:t> represent raw observations across four blocks. CC = with cover crops; No-CC = without cover crops.</a:t>
            </a:r>
          </a:p>
        </p:txBody>
      </p:sp>
    </p:spTree>
    <p:extLst>
      <p:ext uri="{BB962C8B-B14F-4D97-AF65-F5344CB8AC3E}">
        <p14:creationId xmlns:p14="http://schemas.microsoft.com/office/powerpoint/2010/main" val="376087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E0FD-F7D9-FF7D-D493-BF672EEB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90B1D-D545-5024-8808-BDFD2D54A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221" y="581993"/>
            <a:ext cx="5515557" cy="53099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CD0E64-35DF-001E-85A9-13B27090BB56}"/>
              </a:ext>
            </a:extLst>
          </p:cNvPr>
          <p:cNvSpPr txBox="1"/>
          <p:nvPr/>
        </p:nvSpPr>
        <p:spPr>
          <a:xfrm rot="16200000">
            <a:off x="2737743" y="2597690"/>
            <a:ext cx="120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ACE Protein</a:t>
            </a:r>
          </a:p>
          <a:p>
            <a:pPr algn="ctr"/>
            <a:r>
              <a:rPr lang="en-US" sz="1200" dirty="0"/>
              <a:t>(mg kg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B1ABE-190F-4D3E-BA2D-0F398992054C}"/>
              </a:ext>
            </a:extLst>
          </p:cNvPr>
          <p:cNvSpPr txBox="1"/>
          <p:nvPr/>
        </p:nvSpPr>
        <p:spPr>
          <a:xfrm>
            <a:off x="3840480" y="1280160"/>
            <a:ext cx="251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SCCS * Cover = 0.01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4950A-77E6-EE4F-BBA4-D0F17A35C0C7}"/>
                  </a:ext>
                </a:extLst>
              </p:cNvPr>
              <p:cNvSpPr txBox="1"/>
              <p:nvPr/>
            </p:nvSpPr>
            <p:spPr>
              <a:xfrm>
                <a:off x="859536" y="5891958"/>
                <a:ext cx="109362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ACE soil protein under six SCCS main-plot treatments and two cover-crop split-plot treatments in December. The SCCS × Cover interaction was significant (</a:t>
                </a:r>
                <a14:m>
                  <m:oMath xmlns:m="http://schemas.openxmlformats.org/officeDocument/2006/math">
                    <m:r>
                      <a:rPr lang="en-US" sz="1400" b="0" i="1"/>
                      <m:t>𝑃</m:t>
                    </m:r>
                    <m:r>
                      <a:rPr lang="en-US" sz="1400" b="0"/>
                      <m:t>=0.018</m:t>
                    </m:r>
                  </m:oMath>
                </a14:m>
                <a:r>
                  <a:rPr lang="en-US" sz="1400" dirty="0"/>
                  <a:t>); CC = with cover crops and No-CC = without cover crops.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4950A-77E6-EE4F-BBA4-D0F17A35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36" y="5891958"/>
                <a:ext cx="10936224" cy="523220"/>
              </a:xfrm>
              <a:prstGeom prst="rect">
                <a:avLst/>
              </a:prstGeom>
              <a:blipFill>
                <a:blip r:embed="rId3"/>
                <a:stretch>
                  <a:fillRect l="-167" t="-23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69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AF0C-FE72-D164-9E35-7F2CE92E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C4C219-5802-20C7-DF15-0202DB4F6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203" y="664289"/>
            <a:ext cx="6551229" cy="57795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0A5864-1C5F-51AA-1EB1-91989A3FD1AA}"/>
              </a:ext>
            </a:extLst>
          </p:cNvPr>
          <p:cNvSpPr txBox="1"/>
          <p:nvPr/>
        </p:nvSpPr>
        <p:spPr>
          <a:xfrm rot="16200000">
            <a:off x="1415420" y="2910132"/>
            <a:ext cx="216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β-Glucosidase</a:t>
            </a:r>
          </a:p>
          <a:p>
            <a:pPr algn="ctr"/>
            <a:r>
              <a:rPr lang="en-US" sz="1200" dirty="0"/>
              <a:t>(µg p-nitrophenol g</a:t>
            </a:r>
            <a:r>
              <a:rPr lang="en-US" sz="1200" baseline="30000" dirty="0"/>
              <a:t>-1</a:t>
            </a:r>
            <a:r>
              <a:rPr lang="en-US" sz="1200" dirty="0"/>
              <a:t> soil hr</a:t>
            </a:r>
            <a:r>
              <a:rPr lang="en-US" sz="1200" baseline="30000" dirty="0"/>
              <a:t>-1</a:t>
            </a:r>
            <a:r>
              <a:rPr lang="en-US" sz="12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5036E-5315-7910-0D15-74A340934FBF}"/>
              </a:ext>
            </a:extLst>
          </p:cNvPr>
          <p:cNvSpPr txBox="1"/>
          <p:nvPr/>
        </p:nvSpPr>
        <p:spPr>
          <a:xfrm>
            <a:off x="3666744" y="1024354"/>
            <a:ext cx="566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E079E-0253-FEAC-14F0-FD8D8D200F7B}"/>
              </a:ext>
            </a:extLst>
          </p:cNvPr>
          <p:cNvSpPr txBox="1"/>
          <p:nvPr/>
        </p:nvSpPr>
        <p:spPr>
          <a:xfrm>
            <a:off x="5529072" y="664289"/>
            <a:ext cx="566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2030C-DAA8-6E4C-88E3-77EC47F28AC4}"/>
              </a:ext>
            </a:extLst>
          </p:cNvPr>
          <p:cNvSpPr txBox="1"/>
          <p:nvPr/>
        </p:nvSpPr>
        <p:spPr>
          <a:xfrm>
            <a:off x="4620768" y="3440007"/>
            <a:ext cx="566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F6BBA-5CB2-AF29-5A35-8BD0C3D52461}"/>
              </a:ext>
            </a:extLst>
          </p:cNvPr>
          <p:cNvSpPr txBox="1"/>
          <p:nvPr/>
        </p:nvSpPr>
        <p:spPr>
          <a:xfrm>
            <a:off x="6448052" y="1002843"/>
            <a:ext cx="566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5A7C9-76B9-C6D8-7049-73EEDB19ACA9}"/>
              </a:ext>
            </a:extLst>
          </p:cNvPr>
          <p:cNvSpPr txBox="1"/>
          <p:nvPr/>
        </p:nvSpPr>
        <p:spPr>
          <a:xfrm>
            <a:off x="7367016" y="1888123"/>
            <a:ext cx="566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60D0C3-64C8-4000-C84A-9958A3E520EC}"/>
              </a:ext>
            </a:extLst>
          </p:cNvPr>
          <p:cNvSpPr txBox="1"/>
          <p:nvPr/>
        </p:nvSpPr>
        <p:spPr>
          <a:xfrm>
            <a:off x="8319524" y="855077"/>
            <a:ext cx="566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FE0BE6-1D50-8A2B-0B24-7E4CCA9B397A}"/>
                  </a:ext>
                </a:extLst>
              </p:cNvPr>
              <p:cNvSpPr txBox="1"/>
              <p:nvPr/>
            </p:nvSpPr>
            <p:spPr>
              <a:xfrm>
                <a:off x="978408" y="6089904"/>
                <a:ext cx="1068019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Figure. Effect of Solar Corridor Cropping System (SCCS) main-plot treatments on β-glucosidase activity in December. Boxplots represent the distribution of four block-level means for each SCCS treatment. The cover-crop split-plot treatments (CC and No-CC) were averaged within each Block × SCCS main plot because the SCCS × Cover interaction was not significant. Different lowercase letters indicate significant differences among SCCS main-plot treatments according to Tukey-adjusted comparisons at </a:t>
                </a:r>
                <a14:m>
                  <m:oMath xmlns:m="http://schemas.openxmlformats.org/officeDocument/2006/math">
                    <m:r>
                      <a:rPr lang="en-US" sz="1100" b="0" i="1"/>
                      <m:t>𝑃</m:t>
                    </m:r>
                    <m:r>
                      <a:rPr lang="en-US" sz="1100" b="0"/>
                      <m:t>&lt;</m:t>
                    </m:r>
                    <m:r>
                      <a:rPr lang="en-US" sz="1100" b="0" i="1"/>
                      <m:t>0</m:t>
                    </m:r>
                    <m:r>
                      <a:rPr lang="en-US" sz="1100" b="0"/>
                      <m:t>.</m:t>
                    </m:r>
                    <m:r>
                      <a:rPr lang="en-US" sz="1100" b="0" i="1"/>
                      <m:t>05</m:t>
                    </m:r>
                  </m:oMath>
                </a14:m>
                <a:r>
                  <a:rPr lang="en-US" sz="1100" dirty="0"/>
                  <a:t>. Treatments sharing at least one letter are not significantly different.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FE0BE6-1D50-8A2B-0B24-7E4CCA9B3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08" y="6089904"/>
                <a:ext cx="10680192" cy="769441"/>
              </a:xfrm>
              <a:prstGeom prst="rect">
                <a:avLst/>
              </a:prstGeom>
              <a:blipFill>
                <a:blip r:embed="rId3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8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398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Karki, Poonam</dc:creator>
  <cp:lastModifiedBy>Karki, Poonam</cp:lastModifiedBy>
  <cp:revision>1</cp:revision>
  <dcterms:created xsi:type="dcterms:W3CDTF">2026-07-11T18:55:32Z</dcterms:created>
  <dcterms:modified xsi:type="dcterms:W3CDTF">2026-07-11T20:06:54Z</dcterms:modified>
</cp:coreProperties>
</file>